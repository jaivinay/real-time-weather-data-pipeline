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57" r:id="rId6"/>
    <p:sldId id="261" r:id="rId7"/>
    <p:sldId id="262" r:id="rId8"/>
    <p:sldId id="263" r:id="rId9"/>
    <p:sldId id="264" r:id="rId10"/>
    <p:sldId id="266" r:id="rId11"/>
    <p:sldId id="267" r:id="rId12"/>
    <p:sldId id="271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82D1C8-3143-4E0E-B624-D1A813D1653E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9E75BA-5723-4245-9272-7FCBDBEA6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975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E75BA-5723-4245-9272-7FCBDBEA602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813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E75BA-5723-4245-9272-7FCBDBEA602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916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E75BA-5723-4245-9272-7FCBDBEA602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264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D38F4-8AC6-4623-8E1C-36C7C6160B9F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F9B33FC-60C9-4411-8985-F9AADBF3AAA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952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D38F4-8AC6-4623-8E1C-36C7C6160B9F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B33FC-60C9-4411-8985-F9AADBF3AAA0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14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D38F4-8AC6-4623-8E1C-36C7C6160B9F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B33FC-60C9-4411-8985-F9AADBF3AAA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852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D38F4-8AC6-4623-8E1C-36C7C6160B9F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B33FC-60C9-4411-8985-F9AADBF3AAA0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318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D38F4-8AC6-4623-8E1C-36C7C6160B9F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B33FC-60C9-4411-8985-F9AADBF3AAA0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410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D38F4-8AC6-4623-8E1C-36C7C6160B9F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B33FC-60C9-4411-8985-F9AADBF3AAA0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6277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D38F4-8AC6-4623-8E1C-36C7C6160B9F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B33FC-60C9-4411-8985-F9AADBF3A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410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D38F4-8AC6-4623-8E1C-36C7C6160B9F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B33FC-60C9-4411-8985-F9AADBF3AAA0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162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B0D38F4-8AC6-4623-8E1C-36C7C6160B9F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B33FC-60C9-4411-8985-F9AADBF3AAA0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099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D38F4-8AC6-4623-8E1C-36C7C6160B9F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B33FC-60C9-4411-8985-F9AADBF3AAA0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854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D38F4-8AC6-4623-8E1C-36C7C6160B9F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B33FC-60C9-4411-8985-F9AADBF3AAA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507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D38F4-8AC6-4623-8E1C-36C7C6160B9F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F9B33FC-60C9-4411-8985-F9AADBF3AAA0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75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83DAD-EE2A-6D3B-1A51-F6EE2B6894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REAL-TIME WEATHER DATA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0D0B7F-7C47-72A7-AC2F-132AF419BD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3"/>
            <a:ext cx="8637072" cy="1856045"/>
          </a:xfrm>
        </p:spPr>
        <p:txBody>
          <a:bodyPr>
            <a:normAutofit lnSpcReduction="10000"/>
          </a:bodyPr>
          <a:lstStyle/>
          <a:p>
            <a:r>
              <a:rPr lang="en-IN" dirty="0">
                <a:latin typeface="Aptos" panose="020B0004020202020204" pitchFamily="34" charset="0"/>
              </a:rPr>
              <a:t>Team members:</a:t>
            </a:r>
          </a:p>
          <a:p>
            <a:r>
              <a:rPr lang="en-IN" dirty="0">
                <a:latin typeface="Aptos" panose="020B0004020202020204" pitchFamily="34" charset="0"/>
              </a:rPr>
              <a:t>Manikanta </a:t>
            </a:r>
            <a:r>
              <a:rPr lang="en-IN" dirty="0" err="1">
                <a:latin typeface="Aptos" panose="020B0004020202020204" pitchFamily="34" charset="0"/>
              </a:rPr>
              <a:t>reddy</a:t>
            </a:r>
            <a:r>
              <a:rPr lang="en-IN" dirty="0">
                <a:latin typeface="Aptos" panose="020B0004020202020204" pitchFamily="34" charset="0"/>
              </a:rPr>
              <a:t> </a:t>
            </a:r>
            <a:r>
              <a:rPr lang="en-IN" dirty="0" err="1">
                <a:latin typeface="Aptos" panose="020B0004020202020204" pitchFamily="34" charset="0"/>
              </a:rPr>
              <a:t>Reddyeddy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IN" dirty="0">
                <a:latin typeface="Aptos" panose="020B0004020202020204" pitchFamily="34" charset="0"/>
              </a:rPr>
              <a:t>Nevil Pabbineedi</a:t>
            </a:r>
          </a:p>
          <a:p>
            <a:r>
              <a:rPr lang="en-IN" dirty="0" err="1">
                <a:latin typeface="Aptos" panose="020B0004020202020204" pitchFamily="34" charset="0"/>
              </a:rPr>
              <a:t>Jaivinay</a:t>
            </a:r>
            <a:r>
              <a:rPr lang="en-IN" dirty="0">
                <a:latin typeface="Aptos" panose="020B0004020202020204" pitchFamily="34" charset="0"/>
              </a:rPr>
              <a:t> </a:t>
            </a:r>
            <a:r>
              <a:rPr lang="en-IN" dirty="0" err="1">
                <a:latin typeface="Aptos" panose="020B0004020202020204" pitchFamily="34" charset="0"/>
              </a:rPr>
              <a:t>gudiveka</a:t>
            </a:r>
            <a:endParaRPr lang="en-IN" dirty="0">
              <a:latin typeface="Aptos" panose="020B0004020202020204" pitchFamily="34" charset="0"/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FC6466-AD80-6668-892A-2DDC91C1EF93}"/>
              </a:ext>
            </a:extLst>
          </p:cNvPr>
          <p:cNvSpPr txBox="1"/>
          <p:nvPr/>
        </p:nvSpPr>
        <p:spPr>
          <a:xfrm>
            <a:off x="8686190" y="4740917"/>
            <a:ext cx="24835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Under the guidance of</a:t>
            </a:r>
          </a:p>
          <a:p>
            <a:r>
              <a:rPr lang="en-IN" dirty="0">
                <a:latin typeface="Aptos" panose="020B0004020202020204" pitchFamily="34" charset="0"/>
              </a:rPr>
              <a:t>PROF.  TIMOTHY SMITH</a:t>
            </a:r>
          </a:p>
        </p:txBody>
      </p:sp>
    </p:spTree>
    <p:extLst>
      <p:ext uri="{BB962C8B-B14F-4D97-AF65-F5344CB8AC3E}">
        <p14:creationId xmlns:p14="http://schemas.microsoft.com/office/powerpoint/2010/main" val="2291333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93018-4740-1A75-F462-508164F42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64770"/>
            <a:ext cx="9603275" cy="664029"/>
          </a:xfrm>
        </p:spPr>
        <p:txBody>
          <a:bodyPr>
            <a:norm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61D2E-42BD-96AD-81FD-3E2CE297F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Why Do We Need Weather Data?</a:t>
            </a:r>
          </a:p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</a:rPr>
              <a:t>Weather conditions impact transportation, energy usage, agriculture, safety, planning, event management, and many real-world decisions.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dirty="0">
                <a:latin typeface="Aptos" panose="020B0004020202020204" pitchFamily="34" charset="0"/>
              </a:rPr>
              <a:t>Organizations rely on accurate historical trends and real-time updates to:</a:t>
            </a:r>
          </a:p>
          <a:p>
            <a:r>
              <a:rPr lang="en-US" dirty="0">
                <a:latin typeface="Aptos" panose="020B0004020202020204" pitchFamily="34" charset="0"/>
              </a:rPr>
              <a:t>Predict severe weather and issue alerts</a:t>
            </a:r>
          </a:p>
          <a:p>
            <a:r>
              <a:rPr lang="en-US" dirty="0">
                <a:latin typeface="Aptos" panose="020B0004020202020204" pitchFamily="34" charset="0"/>
              </a:rPr>
              <a:t>Optimize operations (e.g., logistics, power grid balancing)</a:t>
            </a:r>
          </a:p>
          <a:p>
            <a:r>
              <a:rPr lang="en-US" dirty="0">
                <a:latin typeface="Aptos" panose="020B0004020202020204" pitchFamily="34" charset="0"/>
              </a:rPr>
              <a:t>Analyze long-term climate patterns</a:t>
            </a:r>
          </a:p>
          <a:p>
            <a:r>
              <a:rPr lang="en-US" dirty="0">
                <a:latin typeface="Aptos" panose="020B0004020202020204" pitchFamily="34" charset="0"/>
              </a:rPr>
              <a:t>Support reporting, dashboards, and data-driven planning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3737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3DA44-2B55-24F2-FD14-C66A57C99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30086"/>
            <a:ext cx="9603275" cy="623668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The Problem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0F0E6-FEF1-9E74-93CA-6440451EE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6255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400" dirty="0">
                <a:latin typeface="Aptos" panose="020B0004020202020204" pitchFamily="34" charset="0"/>
              </a:rPr>
              <a:t>Weather APIs provide raw, unstructured JSON that is not analytics-ready.</a:t>
            </a:r>
            <a:br>
              <a:rPr lang="en-US" sz="4400" dirty="0">
                <a:latin typeface="Aptos" panose="020B0004020202020204" pitchFamily="34" charset="0"/>
              </a:rPr>
            </a:br>
            <a:r>
              <a:rPr lang="en-US" sz="4400" dirty="0">
                <a:latin typeface="Aptos" panose="020B0004020202020204" pitchFamily="34" charset="0"/>
              </a:rPr>
              <a:t>The data is inconsistent and requires significant cleaning, transformation, and aggregation before it can support meaningful insights.</a:t>
            </a:r>
          </a:p>
          <a:p>
            <a:r>
              <a:rPr lang="en-US" sz="4400" b="1" dirty="0">
                <a:latin typeface="Aptos" panose="020B0004020202020204" pitchFamily="34" charset="0"/>
              </a:rPr>
              <a:t>Key Challenges</a:t>
            </a:r>
          </a:p>
          <a:p>
            <a:r>
              <a:rPr lang="en-US" sz="4400" dirty="0">
                <a:latin typeface="Aptos" panose="020B0004020202020204" pitchFamily="34" charset="0"/>
              </a:rPr>
              <a:t>Raw API responses are messy and inconsistent</a:t>
            </a:r>
          </a:p>
          <a:p>
            <a:r>
              <a:rPr lang="en-US" sz="4400" dirty="0">
                <a:latin typeface="Aptos" panose="020B0004020202020204" pitchFamily="34" charset="0"/>
              </a:rPr>
              <a:t>Need to support both historical (batch) and real-time (streaming) ingestion</a:t>
            </a:r>
          </a:p>
          <a:p>
            <a:r>
              <a:rPr lang="en-US" sz="4400" dirty="0">
                <a:latin typeface="Aptos" panose="020B0004020202020204" pitchFamily="34" charset="0"/>
              </a:rPr>
              <a:t>High data volume from multiple cities requires scalable processing</a:t>
            </a:r>
          </a:p>
          <a:p>
            <a:r>
              <a:rPr lang="en-US" sz="4400" dirty="0">
                <a:latin typeface="Aptos" panose="020B0004020202020204" pitchFamily="34" charset="0"/>
              </a:rPr>
              <a:t>Reliability issues: API limits, failures, retries, duplicates</a:t>
            </a:r>
          </a:p>
          <a:p>
            <a:r>
              <a:rPr lang="en-US" sz="4400" dirty="0">
                <a:latin typeface="Aptos" panose="020B0004020202020204" pitchFamily="34" charset="0"/>
              </a:rPr>
              <a:t>Requires automated end-to-end data processing and loading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5991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D0FA-9E7C-D733-5E99-06F2BCF83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ptos" panose="020B0004020202020204" pitchFamily="34" charset="0"/>
              </a:rPr>
              <a:t>Technology Stack</a:t>
            </a:r>
            <a:br>
              <a:rPr lang="en-IN" dirty="0">
                <a:latin typeface="Aptos" panose="020B0004020202020204" pitchFamily="34" charset="0"/>
              </a:rPr>
            </a:b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976C1-55FD-ED5B-48B3-C08CAFCDA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Aptos" panose="020B0004020202020204" pitchFamily="34" charset="0"/>
              </a:rPr>
              <a:t>Languages:</a:t>
            </a:r>
            <a:r>
              <a:rPr lang="en-IN" dirty="0">
                <a:latin typeface="Aptos" panose="020B0004020202020204" pitchFamily="34" charset="0"/>
              </a:rPr>
              <a:t> Python, SQL</a:t>
            </a:r>
            <a:br>
              <a:rPr lang="en-IN" dirty="0">
                <a:latin typeface="Aptos" panose="020B0004020202020204" pitchFamily="34" charset="0"/>
              </a:rPr>
            </a:br>
            <a:r>
              <a:rPr lang="en-IN" b="1" dirty="0">
                <a:latin typeface="Aptos" panose="020B0004020202020204" pitchFamily="34" charset="0"/>
              </a:rPr>
              <a:t>Frameworks:</a:t>
            </a:r>
            <a:r>
              <a:rPr lang="en-IN" dirty="0">
                <a:latin typeface="Aptos" panose="020B0004020202020204" pitchFamily="34" charset="0"/>
              </a:rPr>
              <a:t> Apache Spark, </a:t>
            </a:r>
            <a:r>
              <a:rPr lang="en-IN" dirty="0" err="1">
                <a:latin typeface="Aptos" panose="020B0004020202020204" pitchFamily="34" charset="0"/>
              </a:rPr>
              <a:t>PySpark</a:t>
            </a:r>
            <a:br>
              <a:rPr lang="en-IN" dirty="0">
                <a:latin typeface="Aptos" panose="020B0004020202020204" pitchFamily="34" charset="0"/>
              </a:rPr>
            </a:br>
            <a:r>
              <a:rPr lang="en-IN" b="1" dirty="0">
                <a:latin typeface="Aptos" panose="020B0004020202020204" pitchFamily="34" charset="0"/>
              </a:rPr>
              <a:t>Streaming:</a:t>
            </a:r>
            <a:r>
              <a:rPr lang="en-IN" dirty="0">
                <a:latin typeface="Aptos" panose="020B0004020202020204" pitchFamily="34" charset="0"/>
              </a:rPr>
              <a:t> Apache Kafka</a:t>
            </a:r>
            <a:br>
              <a:rPr lang="en-IN" dirty="0">
                <a:latin typeface="Aptos" panose="020B0004020202020204" pitchFamily="34" charset="0"/>
              </a:rPr>
            </a:br>
            <a:r>
              <a:rPr lang="en-IN" b="1" dirty="0">
                <a:latin typeface="Aptos" panose="020B0004020202020204" pitchFamily="34" charset="0"/>
              </a:rPr>
              <a:t>Orchestration:</a:t>
            </a:r>
            <a:r>
              <a:rPr lang="en-IN" dirty="0">
                <a:latin typeface="Aptos" panose="020B0004020202020204" pitchFamily="34" charset="0"/>
              </a:rPr>
              <a:t> Apache Airflow (Scheduler + Webserver)</a:t>
            </a:r>
            <a:br>
              <a:rPr lang="en-IN" dirty="0">
                <a:latin typeface="Aptos" panose="020B0004020202020204" pitchFamily="34" charset="0"/>
              </a:rPr>
            </a:br>
            <a:r>
              <a:rPr lang="en-IN" b="1" dirty="0">
                <a:latin typeface="Aptos" panose="020B0004020202020204" pitchFamily="34" charset="0"/>
              </a:rPr>
              <a:t>Storage:</a:t>
            </a:r>
            <a:r>
              <a:rPr lang="en-IN" dirty="0">
                <a:latin typeface="Aptos" panose="020B0004020202020204" pitchFamily="34" charset="0"/>
              </a:rPr>
              <a:t> </a:t>
            </a:r>
            <a:r>
              <a:rPr lang="en-IN" dirty="0" err="1">
                <a:latin typeface="Aptos" panose="020B0004020202020204" pitchFamily="34" charset="0"/>
              </a:rPr>
              <a:t>MinIO</a:t>
            </a:r>
            <a:r>
              <a:rPr lang="en-IN" dirty="0">
                <a:latin typeface="Aptos" panose="020B0004020202020204" pitchFamily="34" charset="0"/>
              </a:rPr>
              <a:t> (S3-compatible, Opensource)</a:t>
            </a:r>
            <a:br>
              <a:rPr lang="en-IN" dirty="0">
                <a:latin typeface="Aptos" panose="020B0004020202020204" pitchFamily="34" charset="0"/>
              </a:rPr>
            </a:br>
            <a:r>
              <a:rPr lang="en-IN" b="1" dirty="0">
                <a:latin typeface="Aptos" panose="020B0004020202020204" pitchFamily="34" charset="0"/>
              </a:rPr>
              <a:t>Data Warehouse:</a:t>
            </a:r>
            <a:r>
              <a:rPr lang="en-IN" dirty="0">
                <a:latin typeface="Aptos" panose="020B0004020202020204" pitchFamily="34" charset="0"/>
              </a:rPr>
              <a:t> Snowflake</a:t>
            </a:r>
            <a:br>
              <a:rPr lang="en-IN" dirty="0">
                <a:latin typeface="Aptos" panose="020B0004020202020204" pitchFamily="34" charset="0"/>
              </a:rPr>
            </a:br>
            <a:r>
              <a:rPr lang="en-IN" b="1" dirty="0">
                <a:latin typeface="Aptos" panose="020B0004020202020204" pitchFamily="34" charset="0"/>
              </a:rPr>
              <a:t>Tools &amp; Libraries:</a:t>
            </a:r>
            <a:r>
              <a:rPr lang="en-IN" dirty="0">
                <a:latin typeface="Aptos" panose="020B0004020202020204" pitchFamily="34" charset="0"/>
              </a:rPr>
              <a:t> Docker, Parquet, Pandas</a:t>
            </a:r>
          </a:p>
        </p:txBody>
      </p:sp>
    </p:spTree>
    <p:extLst>
      <p:ext uri="{BB962C8B-B14F-4D97-AF65-F5344CB8AC3E}">
        <p14:creationId xmlns:p14="http://schemas.microsoft.com/office/powerpoint/2010/main" val="1369437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0EF60-341C-BF40-73A9-BE7DD142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037" y="1338943"/>
            <a:ext cx="9603275" cy="49304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ptos" panose="020B0004020202020204" pitchFamily="34" charset="0"/>
              </a:rPr>
              <a:t>Pipeline architecture</a:t>
            </a:r>
          </a:p>
        </p:txBody>
      </p:sp>
      <p:pic>
        <p:nvPicPr>
          <p:cNvPr id="9" name="Content Placeholder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06B62C9-2F51-C0E4-8802-83558849D6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770" y="1962526"/>
            <a:ext cx="9465541" cy="4090955"/>
          </a:xfrm>
        </p:spPr>
      </p:pic>
    </p:spTree>
    <p:extLst>
      <p:ext uri="{BB962C8B-B14F-4D97-AF65-F5344CB8AC3E}">
        <p14:creationId xmlns:p14="http://schemas.microsoft.com/office/powerpoint/2010/main" val="2807999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5DCF3-8F21-6A72-6E01-BE4D023A2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337920"/>
            <a:ext cx="9603275" cy="523538"/>
          </a:xfrm>
        </p:spPr>
        <p:txBody>
          <a:bodyPr>
            <a:normAutofit fontScale="90000"/>
          </a:bodyPr>
          <a:lstStyle/>
          <a:p>
            <a:r>
              <a:rPr lang="en-IN" dirty="0"/>
              <a:t>End-to-End Data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A188F-2EC4-D32D-9F02-F2EBCC4DD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1950418"/>
            <a:ext cx="9603275" cy="4515696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1. Data Sources (Weather APIs)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ptos" panose="020B0004020202020204" pitchFamily="34" charset="0"/>
              </a:rPr>
              <a:t>Historical (Visual Crossing API) and real-time weather data (OpenWeather API) fetched from external API endpoints</a:t>
            </a:r>
          </a:p>
          <a:p>
            <a:r>
              <a:rPr lang="en-US" dirty="0">
                <a:latin typeface="Aptos" panose="020B0004020202020204" pitchFamily="34" charset="0"/>
              </a:rPr>
              <a:t>JSON responses pulled periodically or continuously</a:t>
            </a:r>
          </a:p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2. Ingestion Layer</a:t>
            </a:r>
          </a:p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Batch Ingestion</a:t>
            </a:r>
          </a:p>
          <a:p>
            <a:r>
              <a:rPr lang="en-US" dirty="0">
                <a:latin typeface="Aptos" panose="020B0004020202020204" pitchFamily="34" charset="0"/>
              </a:rPr>
              <a:t>Scheduled fetch → writes raw JSON to </a:t>
            </a:r>
            <a:r>
              <a:rPr lang="en-US" dirty="0" err="1">
                <a:latin typeface="Aptos" panose="020B0004020202020204" pitchFamily="34" charset="0"/>
              </a:rPr>
              <a:t>MinIO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Triggered daily by Airflow</a:t>
            </a:r>
          </a:p>
          <a:p>
            <a:pPr marL="0" indent="0">
              <a:buNone/>
            </a:pPr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dirty="0">
              <a:latin typeface="Aptos" panose="020B00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4237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AB620C-1AAE-272E-4033-4ED40EAF32A0}"/>
              </a:ext>
            </a:extLst>
          </p:cNvPr>
          <p:cNvSpPr txBox="1"/>
          <p:nvPr/>
        </p:nvSpPr>
        <p:spPr>
          <a:xfrm>
            <a:off x="1240971" y="920621"/>
            <a:ext cx="971005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Aptos" panose="020B0004020202020204" pitchFamily="34" charset="0"/>
              </a:rPr>
              <a:t>Streaming Ingestion (Kafka Architecture)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Aptos" panose="020B0004020202020204" pitchFamily="34" charset="0"/>
              </a:rPr>
              <a:t>Kafka Producer</a:t>
            </a:r>
            <a:endParaRPr lang="en-IN" sz="2000" dirty="0">
              <a:latin typeface="Aptos" panose="020B00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Fetches real-time weather every 60 seconds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Publishes events to topic weather-</a:t>
            </a:r>
            <a:r>
              <a:rPr lang="en-IN" sz="2000" dirty="0" err="1">
                <a:latin typeface="Aptos" panose="020B0004020202020204" pitchFamily="34" charset="0"/>
              </a:rPr>
              <a:t>realtime</a:t>
            </a:r>
            <a:r>
              <a:rPr lang="en-IN" sz="2000" dirty="0">
                <a:latin typeface="Aptos" panose="020B0004020202020204" pitchFamily="34" charset="0"/>
              </a:rPr>
              <a:t> (key = city, value = JSON)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Aptos" panose="020B0004020202020204" pitchFamily="34" charset="0"/>
              </a:rPr>
              <a:t>Kafka Broker</a:t>
            </a:r>
            <a:endParaRPr lang="en-IN" sz="2000" dirty="0">
              <a:latin typeface="Aptos" panose="020B00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Stores messages durably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Provides partitioned, fault-tolerant streaming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Aptos" panose="020B0004020202020204" pitchFamily="34" charset="0"/>
              </a:rPr>
              <a:t>Kafka Consumer</a:t>
            </a:r>
            <a:endParaRPr lang="en-IN" sz="2000" dirty="0">
              <a:latin typeface="Aptos" panose="020B00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Reads messages from topic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Writes raw events to </a:t>
            </a:r>
            <a:r>
              <a:rPr lang="en-IN" sz="2000" dirty="0" err="1">
                <a:latin typeface="Aptos" panose="020B0004020202020204" pitchFamily="34" charset="0"/>
              </a:rPr>
              <a:t>MinIO</a:t>
            </a:r>
            <a:r>
              <a:rPr lang="en-IN" sz="2000" dirty="0">
                <a:latin typeface="Aptos" panose="020B0004020202020204" pitchFamily="34" charset="0"/>
              </a:rPr>
              <a:t> (raw zone)</a:t>
            </a:r>
          </a:p>
          <a:p>
            <a:endParaRPr lang="en-US" sz="2000" b="1" dirty="0">
              <a:latin typeface="Aptos" panose="020B0004020202020204" pitchFamily="34" charset="0"/>
            </a:endParaRPr>
          </a:p>
          <a:p>
            <a:r>
              <a:rPr lang="en-US" sz="2000" b="1" dirty="0">
                <a:latin typeface="Aptos" panose="020B0004020202020204" pitchFamily="34" charset="0"/>
              </a:rPr>
              <a:t>3. Raw Storage (</a:t>
            </a:r>
            <a:r>
              <a:rPr lang="en-US" sz="2000" b="1" dirty="0" err="1">
                <a:latin typeface="Aptos" panose="020B0004020202020204" pitchFamily="34" charset="0"/>
              </a:rPr>
              <a:t>MinIO</a:t>
            </a:r>
            <a:r>
              <a:rPr lang="en-US" sz="2000" b="1" dirty="0">
                <a:latin typeface="Aptos" panose="020B000402020202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All incoming data stored in S3-compatible buckets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Organized by batch and streaming folders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Supports scalable and durable object storage</a:t>
            </a:r>
          </a:p>
          <a:p>
            <a:pPr lvl="1"/>
            <a:endParaRPr lang="en-IN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097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D91C93-1D27-70C8-6676-15320F2D9328}"/>
              </a:ext>
            </a:extLst>
          </p:cNvPr>
          <p:cNvSpPr txBox="1"/>
          <p:nvPr/>
        </p:nvSpPr>
        <p:spPr>
          <a:xfrm>
            <a:off x="1219200" y="766732"/>
            <a:ext cx="8658225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Aptos" panose="020B0004020202020204" pitchFamily="34" charset="0"/>
              </a:rPr>
              <a:t>4. Processing Layer (Spark Architecture)</a:t>
            </a:r>
          </a:p>
          <a:p>
            <a:pPr>
              <a:buNone/>
            </a:pPr>
            <a:r>
              <a:rPr lang="en-IN" sz="2000" b="1" dirty="0">
                <a:latin typeface="Aptos" panose="020B0004020202020204" pitchFamily="34" charset="0"/>
              </a:rPr>
              <a:t>Spark Batch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Spark reads raw Parquet/JSON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Performs cleaning, schema standardization, daily aggregations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Writes processed city/date partitions to </a:t>
            </a:r>
            <a:r>
              <a:rPr lang="en-IN" sz="2000" dirty="0" err="1">
                <a:latin typeface="Aptos" panose="020B0004020202020204" pitchFamily="34" charset="0"/>
              </a:rPr>
              <a:t>MinIO</a:t>
            </a:r>
            <a:endParaRPr lang="en-IN" sz="2000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IN" sz="2000" b="1" dirty="0">
                <a:latin typeface="Aptos" panose="020B0004020202020204" pitchFamily="34" charset="0"/>
              </a:rPr>
              <a:t>Spark Streaming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Runs micro-batches or continuous mode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Window-based computations (e.g., 1-minute windows)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Aggregates metrics (</a:t>
            </a:r>
            <a:r>
              <a:rPr lang="en-IN" sz="2000" dirty="0" err="1">
                <a:latin typeface="Aptos" panose="020B0004020202020204" pitchFamily="34" charset="0"/>
              </a:rPr>
              <a:t>avg</a:t>
            </a:r>
            <a:r>
              <a:rPr lang="en-IN" sz="2000" dirty="0">
                <a:latin typeface="Aptos" panose="020B0004020202020204" pitchFamily="34" charset="0"/>
              </a:rPr>
              <a:t> temp, humidity, pressure)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Maintains state, handles late arrivals, ensures exactly-once output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Writes processed real-time files to </a:t>
            </a:r>
            <a:r>
              <a:rPr lang="en-IN" sz="2000" dirty="0" err="1">
                <a:latin typeface="Aptos" panose="020B0004020202020204" pitchFamily="34" charset="0"/>
              </a:rPr>
              <a:t>MinIO</a:t>
            </a:r>
            <a:endParaRPr lang="en-IN" sz="2000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ptos" panose="020B0004020202020204" pitchFamily="34" charset="0"/>
              </a:rPr>
              <a:t>5. Processed Storage (</a:t>
            </a:r>
            <a:r>
              <a:rPr lang="en-US" sz="2000" b="1" dirty="0" err="1">
                <a:latin typeface="Aptos" panose="020B0004020202020204" pitchFamily="34" charset="0"/>
              </a:rPr>
              <a:t>MinIO</a:t>
            </a:r>
            <a:r>
              <a:rPr lang="en-US" sz="2000" b="1" dirty="0">
                <a:latin typeface="Aptos" panose="020B0004020202020204" pitchFamily="34" charset="0"/>
              </a:rPr>
              <a:t> – </a:t>
            </a:r>
            <a:r>
              <a:rPr lang="en-US" sz="2000" b="1" dirty="0" err="1">
                <a:latin typeface="Aptos" panose="020B0004020202020204" pitchFamily="34" charset="0"/>
              </a:rPr>
              <a:t>Stagine</a:t>
            </a:r>
            <a:r>
              <a:rPr lang="en-US" sz="2000" b="1" dirty="0">
                <a:latin typeface="Aptos" panose="020B0004020202020204" pitchFamily="34" charset="0"/>
              </a:rPr>
              <a:t> Layer)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Structured Parquet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Partitioned for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Separate historical and </a:t>
            </a:r>
            <a:r>
              <a:rPr lang="en-US" sz="2000" dirty="0" err="1">
                <a:latin typeface="Aptos" panose="020B0004020202020204" pitchFamily="34" charset="0"/>
              </a:rPr>
              <a:t>realtime</a:t>
            </a:r>
            <a:r>
              <a:rPr lang="en-US" sz="2000" dirty="0">
                <a:latin typeface="Aptos" panose="020B0004020202020204" pitchFamily="34" charset="0"/>
              </a:rPr>
              <a:t> folders</a:t>
            </a:r>
          </a:p>
          <a:p>
            <a:endParaRPr lang="en-IN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960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CC5CBA-8164-B935-F971-E490ABA41372}"/>
              </a:ext>
            </a:extLst>
          </p:cNvPr>
          <p:cNvSpPr txBox="1"/>
          <p:nvPr/>
        </p:nvSpPr>
        <p:spPr>
          <a:xfrm>
            <a:off x="1581150" y="746063"/>
            <a:ext cx="902153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ptos" panose="020B0004020202020204" pitchFamily="34" charset="0"/>
              </a:rPr>
              <a:t>6. Orchestration Layer (Airflow)</a:t>
            </a:r>
            <a:endParaRPr lang="en-US" sz="2000" b="1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ptos" panose="020B0004020202020204" pitchFamily="34" charset="0"/>
              </a:rPr>
              <a:t>Batch Data Flow: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Airflow Orchestrates and automates the batch data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Airflow Manages scheduling, dependencies, retries, and monitoring</a:t>
            </a:r>
            <a:endParaRPr lang="en-US" sz="2000" b="1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Daily DAG for historical weather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Orchestrates fetch → consume → Spark processing → Snowflake load</a:t>
            </a:r>
          </a:p>
          <a:p>
            <a:r>
              <a:rPr lang="en-US" sz="2000" b="1" dirty="0">
                <a:latin typeface="Aptos" panose="020B0004020202020204" pitchFamily="34" charset="0"/>
              </a:rPr>
              <a:t>Streaming Flow: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Kafka producer runs continuously every 60 seconds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Stream ingestion operates independently of Airflow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Aptos" panose="020B0004020202020204" pitchFamily="34" charset="0"/>
              </a:rPr>
              <a:t>7  Data Warehouse (Snowflake)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Stores processed batch and streaming weather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Uses incremental MERGE operations for efficient updates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Tables:</a:t>
            </a:r>
          </a:p>
          <a:p>
            <a:pPr lvl="1"/>
            <a:r>
              <a:rPr lang="en-IN" sz="2000" b="1" dirty="0">
                <a:latin typeface="Aptos" panose="020B0004020202020204" pitchFamily="34" charset="0"/>
              </a:rPr>
              <a:t>DAILY_WEATHER_METRICS</a:t>
            </a:r>
            <a:r>
              <a:rPr lang="en-IN" sz="2000" dirty="0">
                <a:latin typeface="Aptos" panose="020B0004020202020204" pitchFamily="34" charset="0"/>
              </a:rPr>
              <a:t> (Historical batch data)</a:t>
            </a:r>
          </a:p>
          <a:p>
            <a:pPr lvl="1"/>
            <a:r>
              <a:rPr lang="en-IN" sz="2000" b="1" dirty="0">
                <a:latin typeface="Aptos" panose="020B0004020202020204" pitchFamily="34" charset="0"/>
              </a:rPr>
              <a:t>STREAM_WEATHER_METRICS</a:t>
            </a:r>
            <a:r>
              <a:rPr lang="en-IN" sz="2000" dirty="0">
                <a:latin typeface="Aptos" panose="020B0004020202020204" pitchFamily="34" charset="0"/>
              </a:rPr>
              <a:t> (</a:t>
            </a:r>
            <a:r>
              <a:rPr lang="en-IN" sz="2000" dirty="0" err="1">
                <a:latin typeface="Aptos" panose="020B0004020202020204" pitchFamily="34" charset="0"/>
              </a:rPr>
              <a:t>realtime</a:t>
            </a:r>
            <a:r>
              <a:rPr lang="en-IN" sz="2000" dirty="0">
                <a:latin typeface="Aptos" panose="020B000402020202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ptos" panose="020B0004020202020204" pitchFamily="34" charset="0"/>
              </a:rPr>
              <a:t>Provides clean, analytics-ready datasets for fast querying and reporting</a:t>
            </a:r>
            <a:endParaRPr lang="en-US" sz="2000" dirty="0">
              <a:latin typeface="Aptos" panose="020B0004020202020204" pitchFamily="34" charset="0"/>
            </a:endParaRPr>
          </a:p>
          <a:p>
            <a:pPr lvl="1"/>
            <a:endParaRPr lang="en-US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726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95AC3-0940-75D5-593F-FF460A5D8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40971"/>
            <a:ext cx="9603275" cy="612783"/>
          </a:xfrm>
        </p:spPr>
        <p:txBody>
          <a:bodyPr/>
          <a:lstStyle/>
          <a:p>
            <a:r>
              <a:rPr lang="en-IN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2B702-A379-930C-058D-BF0216650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Resolving dependencies to ensure seamless communication between components</a:t>
            </a:r>
          </a:p>
          <a:p>
            <a:r>
              <a:rPr lang="en-IN" dirty="0">
                <a:latin typeface="Aptos" panose="020B0004020202020204" pitchFamily="34" charset="0"/>
              </a:rPr>
              <a:t>Connecting Kafka from local machine vs. Docker network</a:t>
            </a:r>
          </a:p>
          <a:p>
            <a:r>
              <a:rPr lang="en-IN" dirty="0">
                <a:latin typeface="Aptos" panose="020B0004020202020204" pitchFamily="34" charset="0"/>
              </a:rPr>
              <a:t>Handling schema mismatches during Snowflake MERGE operations</a:t>
            </a:r>
          </a:p>
          <a:p>
            <a:r>
              <a:rPr lang="en-IN" dirty="0">
                <a:latin typeface="Aptos" panose="020B0004020202020204" pitchFamily="34" charset="0"/>
              </a:rPr>
              <a:t>Managing streaming window alignment and late-arriving data</a:t>
            </a:r>
          </a:p>
          <a:p>
            <a:r>
              <a:rPr lang="en-IN" dirty="0">
                <a:latin typeface="Aptos" panose="020B0004020202020204" pitchFamily="34" charset="0"/>
              </a:rPr>
              <a:t>Dealing with API rate limits, failures, and retries</a:t>
            </a:r>
          </a:p>
          <a:p>
            <a:r>
              <a:rPr lang="en-IN" dirty="0">
                <a:latin typeface="Aptos" panose="020B0004020202020204" pitchFamily="34" charset="0"/>
              </a:rPr>
              <a:t>Partitioning and organizing data correctly in </a:t>
            </a:r>
            <a:r>
              <a:rPr lang="en-IN" dirty="0" err="1">
                <a:latin typeface="Aptos" panose="020B0004020202020204" pitchFamily="34" charset="0"/>
              </a:rPr>
              <a:t>MinIO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IN" dirty="0">
                <a:latin typeface="Aptos" panose="020B0004020202020204" pitchFamily="34" charset="0"/>
              </a:rPr>
              <a:t>Preventing duplicate records during incremental loads</a:t>
            </a:r>
          </a:p>
          <a:p>
            <a:r>
              <a:rPr lang="en-IN" dirty="0">
                <a:latin typeface="Aptos" panose="020B0004020202020204" pitchFamily="34" charset="0"/>
              </a:rPr>
              <a:t>Maintaining reliable batch execution through Airflow</a:t>
            </a:r>
          </a:p>
          <a:p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740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73AB2-CFBA-A344-8917-BE95D6153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40971"/>
            <a:ext cx="9603275" cy="612783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577AE-72F3-DD44-9AE7-9C911D2D8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Built a complete </a:t>
            </a:r>
            <a:r>
              <a:rPr lang="en-US" b="1" dirty="0">
                <a:latin typeface="Aptos" panose="020B0004020202020204" pitchFamily="34" charset="0"/>
              </a:rPr>
              <a:t>end-to-end weather data pipeline</a:t>
            </a:r>
            <a:r>
              <a:rPr lang="en-US" dirty="0">
                <a:latin typeface="Aptos" panose="020B0004020202020204" pitchFamily="34" charset="0"/>
              </a:rPr>
              <a:t> combining batch and real-time processing</a:t>
            </a:r>
          </a:p>
          <a:p>
            <a:r>
              <a:rPr lang="en-US" dirty="0">
                <a:latin typeface="Aptos" panose="020B0004020202020204" pitchFamily="34" charset="0"/>
              </a:rPr>
              <a:t>Integrated </a:t>
            </a:r>
            <a:r>
              <a:rPr lang="en-US" b="1" dirty="0">
                <a:latin typeface="Aptos" panose="020B0004020202020204" pitchFamily="34" charset="0"/>
              </a:rPr>
              <a:t>Kafka, Spark, </a:t>
            </a:r>
            <a:r>
              <a:rPr lang="en-US" b="1" dirty="0" err="1">
                <a:latin typeface="Aptos" panose="020B0004020202020204" pitchFamily="34" charset="0"/>
              </a:rPr>
              <a:t>MinIO</a:t>
            </a:r>
            <a:r>
              <a:rPr lang="en-US" b="1" dirty="0">
                <a:latin typeface="Aptos" panose="020B0004020202020204" pitchFamily="34" charset="0"/>
              </a:rPr>
              <a:t>, Snowflake, and Airflow</a:t>
            </a:r>
            <a:r>
              <a:rPr lang="en-US" dirty="0">
                <a:latin typeface="Aptos" panose="020B0004020202020204" pitchFamily="34" charset="0"/>
              </a:rPr>
              <a:t> to automate ETL workflows</a:t>
            </a:r>
          </a:p>
          <a:p>
            <a:r>
              <a:rPr lang="en-US" dirty="0">
                <a:latin typeface="Aptos" panose="020B0004020202020204" pitchFamily="34" charset="0"/>
              </a:rPr>
              <a:t>Achieved scalable, reliable ingestion with analytics-ready datasets for historical and streaming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7636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72661-2F34-1CEB-EE93-34F382CA0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62743"/>
            <a:ext cx="9603275" cy="591011"/>
          </a:xfrm>
        </p:spPr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20D4A-EDD8-3AC7-08C6-4112C797B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fontAlgn="base" hangingPunct="0"/>
            <a:r>
              <a:rPr lang="en-US" dirty="0">
                <a:latin typeface="Aptos" panose="020B0004020202020204" pitchFamily="34" charset="0"/>
              </a:rPr>
              <a:t>Add anomaly detection and ML-based weather forecasting</a:t>
            </a:r>
            <a:endParaRPr lang="en-IN" dirty="0">
              <a:latin typeface="Aptos" panose="020B0004020202020204" pitchFamily="34" charset="0"/>
            </a:endParaRPr>
          </a:p>
          <a:p>
            <a:pPr eaLnBrk="0" fontAlgn="base" hangingPunct="0"/>
            <a:r>
              <a:rPr lang="en-US" dirty="0">
                <a:latin typeface="Aptos" panose="020B0004020202020204" pitchFamily="34" charset="0"/>
              </a:rPr>
              <a:t>Expand coverage to more cities and include additional weather metrics</a:t>
            </a:r>
            <a:endParaRPr lang="en-IN" dirty="0">
              <a:latin typeface="Aptos" panose="020B0004020202020204" pitchFamily="34" charset="0"/>
            </a:endParaRPr>
          </a:p>
          <a:p>
            <a:pPr eaLnBrk="0" fontAlgn="base" hangingPunct="0"/>
            <a:r>
              <a:rPr lang="en-US" dirty="0">
                <a:latin typeface="Aptos" panose="020B0004020202020204" pitchFamily="34" charset="0"/>
              </a:rPr>
              <a:t>Deploy the full pipeline to cloud services (AWS or Microsoft Fabric) for scalability</a:t>
            </a:r>
            <a:endParaRPr lang="en-IN" dirty="0">
              <a:latin typeface="Aptos" panose="020B0004020202020204" pitchFamily="34" charset="0"/>
            </a:endParaRPr>
          </a:p>
          <a:p>
            <a:pPr eaLnBrk="0" fontAlgn="base" hangingPunct="0"/>
            <a:r>
              <a:rPr lang="en-US" dirty="0">
                <a:latin typeface="Aptos" panose="020B0004020202020204" pitchFamily="34" charset="0"/>
              </a:rPr>
              <a:t>Build real-time dashboards on top of Snowflake for live monitoring</a:t>
            </a:r>
            <a:endParaRPr lang="en-IN" dirty="0">
              <a:latin typeface="Aptos" panose="020B0004020202020204" pitchFamily="34" charset="0"/>
            </a:endParaRPr>
          </a:p>
          <a:p>
            <a:pPr eaLnBrk="0" fontAlgn="base" hangingPunct="0"/>
            <a:r>
              <a:rPr lang="en-US" dirty="0">
                <a:latin typeface="Aptos" panose="020B0004020202020204" pitchFamily="34" charset="0"/>
              </a:rPr>
              <a:t>Introduce automated data quality checks and validation rules</a:t>
            </a:r>
            <a:endParaRPr lang="en-IN" dirty="0">
              <a:latin typeface="Aptos" panose="020B0004020202020204" pitchFamily="34" charset="0"/>
            </a:endParaRPr>
          </a:p>
          <a:p>
            <a:pPr eaLnBrk="0" fontAlgn="base" hangingPunct="0"/>
            <a:r>
              <a:rPr lang="en-US" dirty="0">
                <a:latin typeface="Aptos" panose="020B0004020202020204" pitchFamily="34" charset="0"/>
              </a:rPr>
              <a:t>Improve monitoring and alerting for pipeline health and data freshness</a:t>
            </a: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767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F24C-0B68-6CF3-752B-5F7623AF4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Any questions?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2EA8F-10E4-2412-A7C1-B461D64B7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6506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C6D46-95F6-E66C-029D-73AAEF390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D7888-044B-38A2-AE1F-9BED85FFA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798613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128</TotalTime>
  <Words>755</Words>
  <Application>Microsoft Office PowerPoint</Application>
  <PresentationFormat>Widescreen</PresentationFormat>
  <Paragraphs>107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Gill Sans MT</vt:lpstr>
      <vt:lpstr>Gallery</vt:lpstr>
      <vt:lpstr>REAL-TIME WEATHER DATA PIPELINE</vt:lpstr>
      <vt:lpstr>Problem Statement</vt:lpstr>
      <vt:lpstr>The Problem</vt:lpstr>
      <vt:lpstr>Technology Stack </vt:lpstr>
      <vt:lpstr>Pipeline architecture</vt:lpstr>
      <vt:lpstr>End-to-End Data Flow</vt:lpstr>
      <vt:lpstr>PowerPoint Presentation</vt:lpstr>
      <vt:lpstr>PowerPoint Presentation</vt:lpstr>
      <vt:lpstr>PowerPoint Presentation</vt:lpstr>
      <vt:lpstr>Challenges faced</vt:lpstr>
      <vt:lpstr>Conclusion</vt:lpstr>
      <vt:lpstr>Future Enhancements</vt:lpstr>
      <vt:lpstr>Any questions?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Nevil Pabbineedi</dc:creator>
  <cp:lastModifiedBy>Nevil Pabbineedi</cp:lastModifiedBy>
  <cp:revision>5</cp:revision>
  <dcterms:created xsi:type="dcterms:W3CDTF">2025-11-09T23:14:47Z</dcterms:created>
  <dcterms:modified xsi:type="dcterms:W3CDTF">2025-11-10T01:26:22Z</dcterms:modified>
</cp:coreProperties>
</file>